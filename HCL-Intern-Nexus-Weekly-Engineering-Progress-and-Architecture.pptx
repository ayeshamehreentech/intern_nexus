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Funnel Display"/>
      <p:regular r:id="rId201314"/>
    </p:embeddedFont>
    <p:embeddedFont>
      <p:font typeface="Funnel Display Bold"/>
      <p:regular r:id="rId201315"/>
    </p:embeddedFont>
    <p:embeddedFont>
      <p:font typeface="Funnel Sans Bold"/>
      <p:regular r:id="rId201316"/>
    </p:embeddedFont>
    <p:embeddedFont>
      <p:font typeface="Funnel Sans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5.png"/><Relationship Id="rId8" Type="http://schemas.openxmlformats.org/officeDocument/2006/relationships/image" Target="../media/image-2-6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6.png"/><Relationship Id="rId9" Type="http://schemas.openxmlformats.org/officeDocument/2006/relationships/image" Target="../media/image-4-7.svg"/><Relationship Id="rId10" Type="http://schemas.openxmlformats.org/officeDocument/2006/relationships/image" Target="../media/image-4-2.png"/><Relationship Id="rId11" Type="http://schemas.openxmlformats.org/officeDocument/2006/relationships/image" Target="../media/image-4-3.svg"/><Relationship Id="rId12" Type="http://schemas.openxmlformats.org/officeDocument/2006/relationships/image" Target="../media/image-4-2.png"/><Relationship Id="rId13" Type="http://schemas.openxmlformats.org/officeDocument/2006/relationships/image" Target="../media/image-4-3.sv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2.png"/><Relationship Id="rId5" Type="http://schemas.openxmlformats.org/officeDocument/2006/relationships/image" Target="../media/image-8-3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6.png"/><Relationship Id="rId9" Type="http://schemas.openxmlformats.org/officeDocument/2006/relationships/image" Target="../media/image-8-7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yeshamehreentech/HCL_INTERN_NEXUS" TargetMode="Externa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4" Type="http://schemas.openxmlformats.org/officeDocument/2006/relationships/image" Target="../media/image-10-3.png"/><Relationship Id="rId5" Type="http://schemas.openxmlformats.org/officeDocument/2006/relationships/image" Target="../media/image-10-4.svg"/><Relationship Id="rId6" Type="http://schemas.openxmlformats.org/officeDocument/2006/relationships/image" Target="../media/image-10-5.png"/><Relationship Id="rId7" Type="http://schemas.openxmlformats.org/officeDocument/2006/relationships/image" Target="../media/image-10-6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2216646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31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HCL Intern Nexus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98086" y="2883098"/>
            <a:ext cx="622363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1" kern="0" dirty="0">
                <a:solidFill>
                  <a:srgbClr val="487C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AI-Powered Internship &amp; Learning Platform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98086" y="3475534"/>
            <a:ext cx="62236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HCLTech Internship · Weekly Engineering Progress &amp; Architecture Review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98086" y="4338241"/>
            <a:ext cx="4642032" cy="303113"/>
          </a:xfrm>
          <a:prstGeom prst="roundRect">
            <a:avLst>
              <a:gd name="adj" fmla="val 22112"/>
            </a:avLst>
          </a:prstGeom>
          <a:noFill/>
          <a:ln w="6350">
            <a:solidFill>
              <a:srgbClr val="3371A5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740" y="4409976"/>
            <a:ext cx="159540" cy="1595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7050" y="4398070"/>
            <a:ext cx="4772997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spc="-31" kern="0" dirty="0">
                <a:solidFill>
                  <a:srgbClr val="3371A5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GITHUB.COM/AYESHAMEHREENTECH/HCL_INTERN_NEXUS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182390"/>
            <a:ext cx="10795524" cy="49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spc="-27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The Problem — Fragmented Internship Operations</a:t>
            </a:r>
            <a:endParaRPr lang="en-US" sz="3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2059285"/>
            <a:ext cx="2523467" cy="15295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2795" y="2247801"/>
            <a:ext cx="2070247" cy="25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27" kern="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📱</a:t>
            </a:r>
            <a:pPr algn="l" indent="0" marL="0">
              <a:lnSpc>
                <a:spcPct val="104000"/>
              </a:lnSpc>
              <a:buNone/>
            </a:pPr>
            <a:r>
              <a:rPr lang="en-US" sz="1550" spc="-27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WhatsApp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962795" y="2647553"/>
            <a:ext cx="2070247" cy="752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Notices, learning resources, and announcements buried in chat history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65614" y="2059285"/>
            <a:ext cx="2523467" cy="15295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30323" y="2247801"/>
            <a:ext cx="2070247" cy="25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27" kern="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📧</a:t>
            </a:r>
            <a:pPr algn="l" indent="0" marL="0">
              <a:lnSpc>
                <a:spcPct val="104000"/>
              </a:lnSpc>
              <a:buNone/>
            </a:pPr>
            <a:r>
              <a:rPr lang="en-US" sz="1550" spc="-27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Email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3630323" y="2647553"/>
            <a:ext cx="2070247" cy="752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Meeting links, schedules, and follow-ups scattered across threads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086" y="3732907"/>
            <a:ext cx="2523467" cy="1780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2795" y="3921423"/>
            <a:ext cx="2070247" cy="25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27" kern="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🗂️</a:t>
            </a:r>
            <a:pPr algn="l" indent="0" marL="0">
              <a:lnSpc>
                <a:spcPct val="104000"/>
              </a:lnSpc>
              <a:buNone/>
            </a:pPr>
            <a:r>
              <a:rPr lang="en-US" sz="1550" spc="-27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Separate Tools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962795" y="4321175"/>
            <a:ext cx="2070247" cy="1003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Learning content, coding exercises, and doubt resolution across disconnected platforms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65614" y="3732907"/>
            <a:ext cx="2523467" cy="1780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630323" y="3921423"/>
            <a:ext cx="2070247" cy="25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27" kern="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📋</a:t>
            </a:r>
            <a:pPr algn="l" indent="0" marL="0">
              <a:lnSpc>
                <a:spcPct val="104000"/>
              </a:lnSpc>
              <a:buNone/>
            </a:pPr>
            <a:r>
              <a:rPr lang="en-US" sz="1550" spc="-27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Manual Records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3630323" y="4321175"/>
            <a:ext cx="2070247" cy="1003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Mentors track observations and performance in fragmented notes with no continuity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6186928" y="1897162"/>
            <a:ext cx="5435067" cy="3778349"/>
          </a:xfrm>
          <a:prstGeom prst="roundRect">
            <a:avLst>
              <a:gd name="adj" fmla="val 3231"/>
            </a:avLst>
          </a:prstGeom>
          <a:solidFill>
            <a:srgbClr val="1F2A5D"/>
          </a:solidFill>
          <a:ln/>
        </p:spPr>
      </p:sp>
      <p:sp>
        <p:nvSpPr>
          <p:cNvPr id="16" name="Text 10"/>
          <p:cNvSpPr/>
          <p:nvPr/>
        </p:nvSpPr>
        <p:spPr>
          <a:xfrm>
            <a:off x="6356389" y="2041227"/>
            <a:ext cx="5096144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spc="-27" kern="0" dirty="0">
                <a:solidFill>
                  <a:srgbClr val="FAC496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The Cost</a:t>
            </a:r>
            <a:endParaRPr lang="en-US" sz="1550" dirty="0"/>
          </a:p>
        </p:txBody>
      </p:sp>
      <p:sp>
        <p:nvSpPr>
          <p:cNvPr id="17" name="Text 11"/>
          <p:cNvSpPr/>
          <p:nvPr/>
        </p:nvSpPr>
        <p:spPr>
          <a:xfrm>
            <a:off x="6356389" y="2434630"/>
            <a:ext cx="5096144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spc="-27" kern="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Constant context-switching, repeated search effort, and lost information create friction for interns and mentors alike.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356389" y="3140968"/>
            <a:ext cx="5096144" cy="19050"/>
          </a:xfrm>
          <a:prstGeom prst="roundRect">
            <a:avLst>
              <a:gd name="adj" fmla="val 49999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9" name="Text 13"/>
          <p:cNvSpPr/>
          <p:nvPr/>
        </p:nvSpPr>
        <p:spPr>
          <a:xfrm>
            <a:off x="6356389" y="3364508"/>
            <a:ext cx="5096144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spc="-27" kern="0" dirty="0">
                <a:solidFill>
                  <a:srgbClr val="487C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The Goal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6356389" y="3757910"/>
            <a:ext cx="5096144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spc="-27" kern="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Bring internship operations, communication, learning, and AI assistance </a:t>
            </a:r>
            <a:pPr algn="l" indent="0" marL="0">
              <a:lnSpc>
                <a:spcPct val="123000"/>
              </a:lnSpc>
              <a:buNone/>
            </a:pPr>
            <a:r>
              <a:rPr lang="en-US" sz="1300" b="1" spc="-27" kern="0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under one roof</a:t>
            </a:r>
            <a:pPr algn="l" indent="0" marL="0">
              <a:lnSpc>
                <a:spcPct val="123000"/>
              </a:lnSpc>
              <a:buNone/>
            </a:pPr>
            <a:r>
              <a:rPr lang="en-US" sz="1300" spc="-27" kern="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with structured role-based workspaces.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741263"/>
            <a:ext cx="6223638" cy="1027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spc="-28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Solution &amp; Differentiation — The Three-Role Nexus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269971" y="1998266"/>
            <a:ext cx="6223638" cy="786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spc="-28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Intern Nexus is designed to combine </a:t>
            </a:r>
            <a:pPr algn="l" indent="0" marL="0">
              <a:lnSpc>
                <a:spcPct val="125000"/>
              </a:lnSpc>
              <a:buNone/>
            </a:pPr>
            <a:r>
              <a:rPr lang="en-US" sz="1350" b="1" spc="-28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internship-management workflows</a:t>
            </a:r>
            <a:pPr algn="l" indent="0" marL="0">
              <a:lnSpc>
                <a:spcPct val="125000"/>
              </a:lnSpc>
              <a:buNone/>
            </a:pPr>
            <a:r>
              <a:rPr lang="en-US" sz="1350" spc="-28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with an </a:t>
            </a:r>
            <a:pPr algn="l" indent="0" marL="0">
              <a:lnSpc>
                <a:spcPct val="125000"/>
              </a:lnSpc>
              <a:buNone/>
            </a:pPr>
            <a:r>
              <a:rPr lang="en-US" sz="1350" b="1" spc="-28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AI-powered learning environment</a:t>
            </a:r>
            <a:pPr algn="l" indent="0" marL="0">
              <a:lnSpc>
                <a:spcPct val="125000"/>
              </a:lnSpc>
              <a:buNone/>
            </a:pPr>
            <a:r>
              <a:rPr lang="en-US" sz="1350" spc="-28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not simply a portal, but an integrated operational system.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5269971" y="2956719"/>
            <a:ext cx="3035323" cy="1765598"/>
          </a:xfrm>
          <a:prstGeom prst="roundRect">
            <a:avLst>
              <a:gd name="adj" fmla="val 4156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50942" y="3137694"/>
            <a:ext cx="2673382" cy="263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28" kern="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🎓</a:t>
            </a:r>
            <a:pPr algn="l" indent="0" marL="0">
              <a:lnSpc>
                <a:spcPct val="104000"/>
              </a:lnSpc>
              <a:buNone/>
            </a:pPr>
            <a:r>
              <a:rPr lang="en-US" sz="1600" spc="-28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Student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50942" y="3492798"/>
            <a:ext cx="2673382" cy="1048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spc="-28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Notices · Meetings · Resources · Doubts · Learning Plans · Helping Bot · PyQuest / Coding Lab · Progress Tracking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458286" y="2956719"/>
            <a:ext cx="3035323" cy="1765598"/>
          </a:xfrm>
          <a:prstGeom prst="roundRect">
            <a:avLst>
              <a:gd name="adj" fmla="val 4156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39257" y="3137694"/>
            <a:ext cx="2673382" cy="263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28" kern="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🧑‍🏫</a:t>
            </a:r>
            <a:pPr algn="l" indent="0" marL="0">
              <a:lnSpc>
                <a:spcPct val="104000"/>
              </a:lnSpc>
              <a:buNone/>
            </a:pPr>
            <a:r>
              <a:rPr lang="en-US" sz="1600" spc="-28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Mentor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39257" y="3492798"/>
            <a:ext cx="2673382" cy="1048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spc="-28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Post Notices &amp; Resources · Meeting Management · Student Support · Evidence-based AI Performance Analysis &amp; PDF Reporting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269971" y="4875312"/>
            <a:ext cx="6223638" cy="1241326"/>
          </a:xfrm>
          <a:prstGeom prst="roundRect">
            <a:avLst>
              <a:gd name="adj" fmla="val 5911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50942" y="5056287"/>
            <a:ext cx="5861697" cy="263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28" kern="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⚙️</a:t>
            </a:r>
            <a:pPr algn="l" indent="0" marL="0">
              <a:lnSpc>
                <a:spcPct val="104000"/>
              </a:lnSpc>
              <a:buNone/>
            </a:pPr>
            <a:r>
              <a:rPr lang="en-US" sz="1600" spc="-28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Admin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50942" y="5411391"/>
            <a:ext cx="5861697" cy="524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spc="-28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Account Lifecycle · User Management · Deletion Requests · Administrative Workflows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49982"/>
            <a:ext cx="10795524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spc="-25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Technology Stack &amp; Libraries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4334" y="1454448"/>
            <a:ext cx="4609786" cy="4609902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36993" y="1673423"/>
            <a:ext cx="2261139" cy="132407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053681" y="1692473"/>
            <a:ext cx="2044450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spc="-25" kern="0" dirty="0">
                <a:solidFill>
                  <a:srgbClr val="487C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Streamlit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7053681" y="2054721"/>
            <a:ext cx="2044450" cy="689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spc="-25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Python-first interactive web application framework — entire UI layer</a:t>
            </a:r>
            <a:endParaRPr lang="en-US" sz="12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38622" y="1673423"/>
            <a:ext cx="2261238" cy="132407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455310" y="1692473"/>
            <a:ext cx="2044550" cy="469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spc="-25" kern="0" dirty="0">
                <a:solidFill>
                  <a:srgbClr val="487C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LangChain + LangGraph</a:t>
            </a:r>
            <a:endParaRPr lang="en-US" sz="1450" dirty="0"/>
          </a:p>
        </p:txBody>
      </p:sp>
      <p:sp>
        <p:nvSpPr>
          <p:cNvPr id="9" name="Text 4"/>
          <p:cNvSpPr/>
          <p:nvPr/>
        </p:nvSpPr>
        <p:spPr>
          <a:xfrm>
            <a:off x="9455310" y="2289373"/>
            <a:ext cx="2044550" cy="689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spc="-25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RAG pipelines and graph-oriented stateful AI workflow orchestration</a:t>
            </a:r>
            <a:endParaRPr lang="en-US" sz="12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36993" y="3214688"/>
            <a:ext cx="2261139" cy="108942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053681" y="3233738"/>
            <a:ext cx="2044450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spc="-25" kern="0" dirty="0">
                <a:solidFill>
                  <a:srgbClr val="487C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Groq</a:t>
            </a:r>
            <a:endParaRPr lang="en-US" sz="1450" dirty="0"/>
          </a:p>
        </p:txBody>
      </p:sp>
      <p:sp>
        <p:nvSpPr>
          <p:cNvPr id="12" name="Text 6"/>
          <p:cNvSpPr/>
          <p:nvPr/>
        </p:nvSpPr>
        <p:spPr>
          <a:xfrm>
            <a:off x="7053681" y="3595985"/>
            <a:ext cx="2044450" cy="459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spc="-25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High-speed LLM inference endpoint when configured</a:t>
            </a:r>
            <a:endParaRPr lang="en-US" sz="12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38622" y="3214688"/>
            <a:ext cx="2261238" cy="108942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455310" y="3233738"/>
            <a:ext cx="2044550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spc="-25" kern="0" dirty="0">
                <a:solidFill>
                  <a:srgbClr val="487C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FastEmbed + FAISS</a:t>
            </a:r>
            <a:endParaRPr lang="en-US" sz="1450" dirty="0"/>
          </a:p>
        </p:txBody>
      </p:sp>
      <p:sp>
        <p:nvSpPr>
          <p:cNvPr id="15" name="Text 8"/>
          <p:cNvSpPr/>
          <p:nvPr/>
        </p:nvSpPr>
        <p:spPr>
          <a:xfrm>
            <a:off x="9455310" y="3595985"/>
            <a:ext cx="2044550" cy="689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spc="-25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Embedding generation and semantic vector retrieval for RAG</a:t>
            </a:r>
            <a:endParaRPr lang="en-US" sz="12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836993" y="4521299"/>
            <a:ext cx="2261139" cy="1324074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053681" y="4540349"/>
            <a:ext cx="2044450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spc="-25" kern="0" dirty="0">
                <a:solidFill>
                  <a:srgbClr val="487C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Supabase / PostgreSQL</a:t>
            </a:r>
            <a:endParaRPr lang="en-US" sz="1450" dirty="0"/>
          </a:p>
        </p:txBody>
      </p:sp>
      <p:sp>
        <p:nvSpPr>
          <p:cNvPr id="18" name="Text 10"/>
          <p:cNvSpPr/>
          <p:nvPr/>
        </p:nvSpPr>
        <p:spPr>
          <a:xfrm>
            <a:off x="7053681" y="4902597"/>
            <a:ext cx="2044450" cy="689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spc="-25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Durable persistent state — source of truth for all verified data</a:t>
            </a:r>
            <a:endParaRPr lang="en-US" sz="125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238622" y="4521299"/>
            <a:ext cx="2261238" cy="1324074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9455310" y="4540349"/>
            <a:ext cx="2044550" cy="469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spc="-25" kern="0" dirty="0">
                <a:solidFill>
                  <a:srgbClr val="FAC496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ReportLab · PyPDF · Google API · Docker</a:t>
            </a:r>
            <a:endParaRPr lang="en-US" sz="1450" dirty="0"/>
          </a:p>
        </p:txBody>
      </p:sp>
      <p:sp>
        <p:nvSpPr>
          <p:cNvPr id="21" name="Text 12"/>
          <p:cNvSpPr/>
          <p:nvPr/>
        </p:nvSpPr>
        <p:spPr>
          <a:xfrm>
            <a:off x="9455310" y="5137249"/>
            <a:ext cx="2044550" cy="689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spc="-25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PDF reports · Document parsing · YouTube integration · Container packaging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881360"/>
            <a:ext cx="10795524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spc="-25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GitHub Code Architecture — Separation of Concerns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6052" y="2689126"/>
            <a:ext cx="3983434" cy="21404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95868" y="2921124"/>
            <a:ext cx="848359" cy="105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650" spc="-16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Entry Point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1290700" y="3059161"/>
            <a:ext cx="953527" cy="162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4000"/>
              </a:lnSpc>
              <a:buNone/>
            </a:pPr>
            <a:r>
              <a:rPr lang="en-US" sz="550" spc="-16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app.py initializes application and routing.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4131249" y="3225619"/>
            <a:ext cx="848358" cy="105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spc="-16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Auth Layer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4131249" y="3363656"/>
            <a:ext cx="953527" cy="162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50" spc="-16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authentication.py handles auth and role access control.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1395868" y="3538127"/>
            <a:ext cx="848359" cy="105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650" spc="-16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Role Dashboards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1290700" y="3676164"/>
            <a:ext cx="953527" cy="162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4000"/>
              </a:lnSpc>
              <a:buNone/>
            </a:pPr>
            <a:r>
              <a:rPr lang="en-US" sz="550" spc="-16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dashboards/ Student, Mentor, Admin UIs.</a:t>
            </a:r>
            <a:endParaRPr lang="en-US" sz="550" dirty="0"/>
          </a:p>
        </p:txBody>
      </p:sp>
      <p:sp>
        <p:nvSpPr>
          <p:cNvPr id="10" name="Text 7"/>
          <p:cNvSpPr/>
          <p:nvPr/>
        </p:nvSpPr>
        <p:spPr>
          <a:xfrm>
            <a:off x="4131249" y="3886694"/>
            <a:ext cx="848358" cy="105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spc="-16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AI Modules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4131249" y="4024731"/>
            <a:ext cx="953527" cy="162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50" spc="-16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ai/ PyQuest agents, orchestrator, RAG, utilities.</a:t>
            </a:r>
            <a:endParaRPr lang="en-US" sz="550" dirty="0"/>
          </a:p>
        </p:txBody>
      </p:sp>
      <p:sp>
        <p:nvSpPr>
          <p:cNvPr id="12" name="Text 9"/>
          <p:cNvSpPr/>
          <p:nvPr/>
        </p:nvSpPr>
        <p:spPr>
          <a:xfrm>
            <a:off x="1395868" y="4215228"/>
            <a:ext cx="848359" cy="105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650" spc="-16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Infrastructure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1290700" y="4353265"/>
            <a:ext cx="953527" cy="162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4000"/>
              </a:lnSpc>
              <a:buNone/>
            </a:pPr>
            <a:r>
              <a:rPr lang="en-US" sz="550" spc="-16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database/, assets/, Dockerfile, requirements, README.</a:t>
            </a:r>
            <a:endParaRPr lang="en-US" sz="550" dirty="0"/>
          </a:p>
        </p:txBody>
      </p:sp>
      <p:sp>
        <p:nvSpPr>
          <p:cNvPr id="14" name="Shape 11"/>
          <p:cNvSpPr/>
          <p:nvPr/>
        </p:nvSpPr>
        <p:spPr>
          <a:xfrm>
            <a:off x="5958235" y="1542256"/>
            <a:ext cx="5656518" cy="4434284"/>
          </a:xfrm>
          <a:prstGeom prst="roundRect">
            <a:avLst>
              <a:gd name="adj" fmla="val 2591"/>
            </a:avLst>
          </a:prstGeom>
          <a:solidFill>
            <a:srgbClr val="1F2A5D"/>
          </a:solidFill>
          <a:ln/>
        </p:spPr>
      </p:sp>
      <p:sp>
        <p:nvSpPr>
          <p:cNvPr id="15" name="Text 12"/>
          <p:cNvSpPr/>
          <p:nvPr/>
        </p:nvSpPr>
        <p:spPr>
          <a:xfrm>
            <a:off x="6117774" y="1669852"/>
            <a:ext cx="5337438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spc="-25" kern="0" dirty="0">
                <a:solidFill>
                  <a:srgbClr val="FAC496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Runtime Flow</a:t>
            </a:r>
            <a:endParaRPr lang="en-US" sz="14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7774" y="2048073"/>
            <a:ext cx="797897" cy="95746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043264" y="2207617"/>
            <a:ext cx="4411949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spc="-25" kern="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Student / Mentor / Admin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7043264" y="2569865"/>
            <a:ext cx="4411949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spc="-25" kern="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Role-authenticated Streamlit UI</a:t>
            </a:r>
            <a:endParaRPr lang="en-US" sz="125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774" y="3005534"/>
            <a:ext cx="797897" cy="9574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043264" y="3165078"/>
            <a:ext cx="4411949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spc="-25" kern="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LangChain · LangGraph · Groq · YouTube API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7043264" y="3527326"/>
            <a:ext cx="4411949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spc="-25" kern="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AI helpers and external integrations</a:t>
            </a:r>
            <a:endParaRPr lang="en-US" sz="12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774" y="3962995"/>
            <a:ext cx="797897" cy="95746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43264" y="4122539"/>
            <a:ext cx="4411949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spc="-25" kern="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Supabase Data API → PostgreSQL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043264" y="4484787"/>
            <a:ext cx="4411949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spc="-25" kern="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Durable persistent state — verified source of truth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6117774" y="5064026"/>
            <a:ext cx="5337438" cy="768945"/>
          </a:xfrm>
          <a:prstGeom prst="roundRect">
            <a:avLst>
              <a:gd name="adj" fmla="val 8716"/>
            </a:avLst>
          </a:prstGeom>
          <a:solidFill>
            <a:srgbClr val="1E436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7314" y="5263356"/>
            <a:ext cx="199425" cy="1595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636279" y="5218807"/>
            <a:ext cx="4659394" cy="459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spc="-25" kern="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Each concern lives in its own module — not one monolithic Python file.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4633"/>
            <a:ext cx="10795524" cy="268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-1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PyQuest — </a:t>
            </a:r>
            <a:pPr algn="l" indent="0" marL="0">
              <a:lnSpc>
                <a:spcPct val="104000"/>
              </a:lnSpc>
              <a:buNone/>
            </a:pPr>
            <a:r>
              <a:rPr lang="en-US" sz="1650" spc="-14" kern="0" dirty="0">
                <a:solidFill>
                  <a:srgbClr val="487C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Main Development Focus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698086" y="905966"/>
            <a:ext cx="685584" cy="138410"/>
          </a:xfrm>
          <a:prstGeom prst="roundRect">
            <a:avLst>
              <a:gd name="adj" fmla="val 22132"/>
            </a:avLst>
          </a:prstGeom>
          <a:solidFill>
            <a:srgbClr val="D8E7F3"/>
          </a:solidFill>
          <a:ln/>
        </p:spPr>
      </p:sp>
      <p:sp>
        <p:nvSpPr>
          <p:cNvPr id="4" name="Text 2"/>
          <p:cNvSpPr/>
          <p:nvPr/>
        </p:nvSpPr>
        <p:spPr>
          <a:xfrm>
            <a:off x="752754" y="933252"/>
            <a:ext cx="1185833" cy="8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spc="-1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CURRENT SPRINT</a:t>
            </a:r>
            <a:endParaRPr lang="en-US" sz="550" dirty="0"/>
          </a:p>
        </p:txBody>
      </p:sp>
      <p:sp>
        <p:nvSpPr>
          <p:cNvPr id="5" name="Shape 3"/>
          <p:cNvSpPr/>
          <p:nvPr/>
        </p:nvSpPr>
        <p:spPr>
          <a:xfrm>
            <a:off x="1429210" y="905966"/>
            <a:ext cx="516718" cy="138410"/>
          </a:xfrm>
          <a:prstGeom prst="roundRect">
            <a:avLst>
              <a:gd name="adj" fmla="val 22132"/>
            </a:avLst>
          </a:prstGeom>
          <a:noFill/>
          <a:ln w="6350">
            <a:solidFill>
              <a:srgbClr val="3371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83879" y="933252"/>
            <a:ext cx="1016967" cy="8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spc="-14" kern="0" dirty="0">
                <a:solidFill>
                  <a:srgbClr val="3371A5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CODING LAB</a:t>
            </a:r>
            <a:endParaRPr lang="en-US" sz="5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4014" y="1091208"/>
            <a:ext cx="6903666" cy="339377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22157" y="1416939"/>
            <a:ext cx="1485819" cy="185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16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Run &amp; Evaluate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022157" y="1658698"/>
            <a:ext cx="3192669" cy="115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6000"/>
              </a:lnSpc>
              <a:buNone/>
            </a:pPr>
            <a:r>
              <a:rPr lang="en-US" sz="950" spc="-16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Sandbox validates then routes result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022157" y="2209864"/>
            <a:ext cx="1485819" cy="185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16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Generate Challenge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022157" y="2451622"/>
            <a:ext cx="3192669" cy="115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6000"/>
              </a:lnSpc>
              <a:buNone/>
            </a:pPr>
            <a:r>
              <a:rPr lang="en-US" sz="950" spc="-16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Storyteller creates contextual task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022157" y="3002788"/>
            <a:ext cx="1485819" cy="185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16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Coordinate &amp; Plan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022157" y="3244547"/>
            <a:ext cx="3192669" cy="115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6000"/>
              </a:lnSpc>
              <a:buNone/>
            </a:pPr>
            <a:r>
              <a:rPr lang="en-US" sz="950" spc="-16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Coordinator and Syllabus plan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029174" y="3795713"/>
            <a:ext cx="1485819" cy="185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16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Open Lab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029174" y="4037471"/>
            <a:ext cx="3192670" cy="115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6000"/>
              </a:lnSpc>
              <a:buNone/>
            </a:pPr>
            <a:r>
              <a:rPr lang="en-US" sz="950" spc="-16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Student enters Coding Lab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98086" y="4578648"/>
            <a:ext cx="5286540" cy="1059755"/>
          </a:xfrm>
          <a:prstGeom prst="roundRect">
            <a:avLst>
              <a:gd name="adj" fmla="val 3613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04436" y="4584998"/>
            <a:ext cx="2636871" cy="576659"/>
          </a:xfrm>
          <a:custGeom>
            <a:avLst/>
            <a:gdLst/>
            <a:ahLst/>
            <a:cxnLst/>
            <a:rect l="l" t="t" r="r" b="b"/>
            <a:pathLst>
              <a:path w="2636871" h="576659">
                <a:moveTo>
                  <a:pt x="31909" y="0"/>
                </a:moveTo>
                <a:lnTo>
                  <a:pt x="2636871" y="0"/>
                </a:lnTo>
                <a:lnTo>
                  <a:pt x="2636871" y="576659"/>
                </a:lnTo>
                <a:lnTo>
                  <a:pt x="0" y="576659"/>
                </a:lnTo>
                <a:lnTo>
                  <a:pt x="0" y="31910"/>
                </a:lnTo>
                <a:arcTo hR="31910" wR="31909" stAng="10800000" swAng="5400000"/>
                <a:close/>
              </a:path>
            </a:pathLst>
          </a:custGeom>
          <a:solidFill>
            <a:srgbClr val="FAF5EB"/>
          </a:solidFill>
          <a:ln/>
        </p:spPr>
      </p:sp>
      <p:sp>
        <p:nvSpPr>
          <p:cNvPr id="18" name="Text 15"/>
          <p:cNvSpPr/>
          <p:nvPr/>
        </p:nvSpPr>
        <p:spPr>
          <a:xfrm>
            <a:off x="795516" y="4676080"/>
            <a:ext cx="2454710" cy="14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spc="-14" kern="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🟦</a:t>
            </a:r>
            <a:pPr algn="l" indent="0" marL="0">
              <a:lnSpc>
                <a:spcPct val="104000"/>
              </a:lnSpc>
              <a:buNone/>
            </a:pPr>
            <a:r>
              <a:rPr lang="en-US" sz="800" spc="-14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DETERMINISTIC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95516" y="4858048"/>
            <a:ext cx="2454710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700" spc="-1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Coordinator · Syllabus Architect · Evaluator · Unlock/Mastery logic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3341306" y="4584998"/>
            <a:ext cx="2636970" cy="576659"/>
          </a:xfrm>
          <a:custGeom>
            <a:avLst/>
            <a:gdLst/>
            <a:ahLst/>
            <a:cxnLst/>
            <a:rect l="l" t="t" r="r" b="b"/>
            <a:pathLst>
              <a:path w="2636970" h="576659">
                <a:moveTo>
                  <a:pt x="0" y="0"/>
                </a:moveTo>
                <a:lnTo>
                  <a:pt x="2605061" y="0"/>
                </a:lnTo>
                <a:arcTo hR="31910" wR="31909" stAng="16200000" swAng="5400000"/>
                <a:lnTo>
                  <a:pt x="2636970" y="576659"/>
                </a:lnTo>
                <a:lnTo>
                  <a:pt x="0" y="576659"/>
                </a:lnTo>
                <a:lnTo>
                  <a:pt x="0" y="0"/>
                </a:lnTo>
                <a:close/>
              </a:path>
            </a:pathLst>
          </a:custGeom>
          <a:solidFill>
            <a:srgbClr val="FAF5EB"/>
          </a:solidFill>
          <a:ln/>
        </p:spPr>
      </p:sp>
      <p:sp>
        <p:nvSpPr>
          <p:cNvPr id="21" name="Shape 18"/>
          <p:cNvSpPr/>
          <p:nvPr/>
        </p:nvSpPr>
        <p:spPr>
          <a:xfrm>
            <a:off x="3341306" y="4584998"/>
            <a:ext cx="12700" cy="576659"/>
          </a:xfrm>
          <a:prstGeom prst="roundRect">
            <a:avLst>
              <a:gd name="adj" fmla="val 49999"/>
            </a:avLst>
          </a:prstGeom>
          <a:solidFill>
            <a:srgbClr val="D5CDBE"/>
          </a:solidFill>
          <a:ln/>
        </p:spPr>
      </p:sp>
      <p:sp>
        <p:nvSpPr>
          <p:cNvPr id="22" name="Text 19"/>
          <p:cNvSpPr/>
          <p:nvPr/>
        </p:nvSpPr>
        <p:spPr>
          <a:xfrm>
            <a:off x="3432387" y="4676080"/>
            <a:ext cx="2454809" cy="14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spc="-14" kern="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🟣</a:t>
            </a:r>
            <a:pPr algn="l" indent="0" marL="0">
              <a:lnSpc>
                <a:spcPct val="104000"/>
              </a:lnSpc>
              <a:buNone/>
            </a:pPr>
            <a:r>
              <a:rPr lang="en-US" sz="800" spc="-14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AI-ASSISTED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3432387" y="4858048"/>
            <a:ext cx="2454809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700" spc="-1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Storyteller · Remediation Camp · Adaptive explanation and language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704436" y="5161657"/>
            <a:ext cx="5273841" cy="470396"/>
          </a:xfrm>
          <a:custGeom>
            <a:avLst/>
            <a:gdLst/>
            <a:ahLst/>
            <a:cxnLst/>
            <a:rect l="l" t="t" r="r" b="b"/>
            <a:pathLst>
              <a:path w="5273841" h="470396">
                <a:moveTo>
                  <a:pt x="0" y="0"/>
                </a:moveTo>
                <a:lnTo>
                  <a:pt x="5273841" y="0"/>
                </a:lnTo>
                <a:lnTo>
                  <a:pt x="5273841" y="438486"/>
                </a:lnTo>
                <a:arcTo hR="31910" wR="31909" stAng="0" swAng="5400000"/>
                <a:lnTo>
                  <a:pt x="31909" y="470396"/>
                </a:lnTo>
                <a:arcTo hR="31910" wR="31909" stAng="5400000" swAng="5400000"/>
                <a:lnTo>
                  <a:pt x="0" y="0"/>
                </a:lnTo>
                <a:close/>
              </a:path>
            </a:pathLst>
          </a:custGeom>
          <a:solidFill>
            <a:srgbClr val="FAF5EB"/>
          </a:solidFill>
          <a:ln/>
        </p:spPr>
      </p:sp>
      <p:sp>
        <p:nvSpPr>
          <p:cNvPr id="25" name="Shape 22"/>
          <p:cNvSpPr/>
          <p:nvPr/>
        </p:nvSpPr>
        <p:spPr>
          <a:xfrm>
            <a:off x="704436" y="5161657"/>
            <a:ext cx="5273841" cy="12700"/>
          </a:xfrm>
          <a:prstGeom prst="roundRect">
            <a:avLst>
              <a:gd name="adj" fmla="val 49999"/>
            </a:avLst>
          </a:prstGeom>
          <a:solidFill>
            <a:srgbClr val="D5CDBE"/>
          </a:solidFill>
          <a:ln/>
        </p:spPr>
      </p:sp>
      <p:sp>
        <p:nvSpPr>
          <p:cNvPr id="26" name="Text 23"/>
          <p:cNvSpPr/>
          <p:nvPr/>
        </p:nvSpPr>
        <p:spPr>
          <a:xfrm>
            <a:off x="795516" y="5252740"/>
            <a:ext cx="5091680" cy="14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spc="-14" kern="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🟢</a:t>
            </a:r>
            <a:pPr algn="l" indent="0" marL="0">
              <a:lnSpc>
                <a:spcPct val="104000"/>
              </a:lnSpc>
              <a:buNone/>
            </a:pPr>
            <a:r>
              <a:rPr lang="en-US" sz="800" spc="-14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PERSISTED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795516" y="5434707"/>
            <a:ext cx="5091680" cy="106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700" spc="-1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Verified attempts and progress → Supabase. Coordinator does NOT write DB.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6213419" y="4573389"/>
            <a:ext cx="5286540" cy="134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spc="-1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Curriculum Mastery Progression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6213419" y="4754265"/>
            <a:ext cx="881040" cy="470396"/>
          </a:xfrm>
          <a:prstGeom prst="roundRect">
            <a:avLst>
              <a:gd name="adj" fmla="val 8140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589845" y="4909344"/>
            <a:ext cx="128187" cy="160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4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1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185540" y="4845348"/>
            <a:ext cx="4223339" cy="14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spc="-14" kern="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🏰</a:t>
            </a:r>
            <a:pPr algn="l" indent="0" marL="0">
              <a:lnSpc>
                <a:spcPct val="104000"/>
              </a:lnSpc>
              <a:buNone/>
            </a:pPr>
            <a:r>
              <a:rPr lang="en-US" sz="800" spc="-14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Castle Kingdom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7185540" y="5027315"/>
            <a:ext cx="4223339" cy="106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700" spc="-1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Unlocks at Stage 9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7140000" y="5221486"/>
            <a:ext cx="4314419" cy="6350"/>
          </a:xfrm>
          <a:prstGeom prst="roundRect">
            <a:avLst>
              <a:gd name="adj" fmla="val 49999"/>
            </a:avLst>
          </a:prstGeom>
          <a:solidFill>
            <a:srgbClr val="D5CDBE"/>
          </a:solidFill>
          <a:ln/>
        </p:spPr>
      </p:sp>
      <p:sp>
        <p:nvSpPr>
          <p:cNvPr id="34" name="Shape 31"/>
          <p:cNvSpPr/>
          <p:nvPr/>
        </p:nvSpPr>
        <p:spPr>
          <a:xfrm>
            <a:off x="6213419" y="5270202"/>
            <a:ext cx="1762081" cy="470396"/>
          </a:xfrm>
          <a:prstGeom prst="roundRect">
            <a:avLst>
              <a:gd name="adj" fmla="val 8140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030366" y="5425281"/>
            <a:ext cx="128187" cy="160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4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2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8066580" y="5361285"/>
            <a:ext cx="3342298" cy="14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spc="-14" kern="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🏬</a:t>
            </a:r>
            <a:pPr algn="l" indent="0" marL="0">
              <a:lnSpc>
                <a:spcPct val="104000"/>
              </a:lnSpc>
              <a:buNone/>
            </a:pPr>
            <a:r>
              <a:rPr lang="en-US" sz="800" spc="-14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Mall Mission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8066580" y="5543252"/>
            <a:ext cx="3342298" cy="106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700" spc="-1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Unlocks at Stage 6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8021040" y="5737423"/>
            <a:ext cx="3433379" cy="6350"/>
          </a:xfrm>
          <a:prstGeom prst="roundRect">
            <a:avLst>
              <a:gd name="adj" fmla="val 49999"/>
            </a:avLst>
          </a:prstGeom>
          <a:solidFill>
            <a:srgbClr val="D5CDBE"/>
          </a:solidFill>
          <a:ln/>
        </p:spPr>
      </p:sp>
      <p:sp>
        <p:nvSpPr>
          <p:cNvPr id="39" name="Shape 36"/>
          <p:cNvSpPr/>
          <p:nvPr/>
        </p:nvSpPr>
        <p:spPr>
          <a:xfrm>
            <a:off x="6213419" y="5786140"/>
            <a:ext cx="2643221" cy="470396"/>
          </a:xfrm>
          <a:prstGeom prst="roundRect">
            <a:avLst>
              <a:gd name="adj" fmla="val 8140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470886" y="5941219"/>
            <a:ext cx="128187" cy="160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spc="-14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3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8947720" y="5877223"/>
            <a:ext cx="2461159" cy="14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spc="-14" kern="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🏘️</a:t>
            </a:r>
            <a:pPr algn="l" indent="0" marL="0">
              <a:lnSpc>
                <a:spcPct val="104000"/>
              </a:lnSpc>
              <a:buNone/>
            </a:pPr>
            <a:r>
              <a:rPr lang="en-US" sz="800" spc="-14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Python Village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8947720" y="6059190"/>
            <a:ext cx="2461159" cy="106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700" spc="-1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Start · Stage 0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93527"/>
            <a:ext cx="10795524" cy="45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spc="-2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PyQuest Design Principle &amp; Safe Execution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98086" y="2206823"/>
            <a:ext cx="4986907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24" kern="0" dirty="0">
                <a:solidFill>
                  <a:srgbClr val="FAC496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Core Engineering Principle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98086" y="2551113"/>
            <a:ext cx="4986907" cy="1194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200" b="1" spc="-24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Not everything should be agentic.</a:t>
            </a:r>
            <a:pPr algn="l" indent="0" marL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200" spc="-2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Use deterministic logic where correctness and reproducibility are required; generative AI where explanation, adaptation, and natural language add genuine value.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spc="-2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Stages: </a:t>
            </a:r>
            <a:pPr algn="l" indent="0" marL="0">
              <a:lnSpc>
                <a:spcPct val="118000"/>
              </a:lnSpc>
              <a:buNone/>
            </a:pPr>
            <a:r>
              <a:rPr lang="en-US" sz="1200" b="1" spc="-24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print → input → variables → conditions → loops → functions</a:t>
            </a:r>
            <a:pPr algn="l" indent="0" marL="0">
              <a:lnSpc>
                <a:spcPct val="118000"/>
              </a:lnSpc>
              <a:buNone/>
            </a:pPr>
            <a:r>
              <a:rPr lang="en-US" sz="1200" spc="-2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 3 verified correct answers required per stage.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66182" y="1341338"/>
            <a:ext cx="5433678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24" kern="0" dirty="0">
                <a:solidFill>
                  <a:srgbClr val="487C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Restricted Executor Pipeline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3663" y="1700411"/>
            <a:ext cx="4618616" cy="20259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73397" y="3037552"/>
            <a:ext cx="698014" cy="117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00" spc="-17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Allowlist Check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7873397" y="3190657"/>
            <a:ext cx="698014" cy="353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600" spc="-1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Restrict to safe builtins; max code 8000 chars; max range 10000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10090824" y="2919998"/>
            <a:ext cx="698015" cy="235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00" spc="-17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Timeout &amp; Output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0090824" y="3190657"/>
            <a:ext cx="698015" cy="353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600" spc="-1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Default 1.5s timeout; max output 4000 chars; normalized result to Evaluator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6789124" y="1882498"/>
            <a:ext cx="698014" cy="117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00" spc="-17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AST Validation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6789124" y="2035602"/>
            <a:ext cx="698014" cy="530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600" spc="-1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Parse and inspect syntax tree; block imports, file/network, reflection, dunders, unsupported syntax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8997664" y="1882498"/>
            <a:ext cx="698014" cy="117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00" spc="-17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Child Process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8997664" y="2035602"/>
            <a:ext cx="698014" cy="353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600" spc="-1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Spawn isolated multiprocessing child process for execution</a:t>
            </a:r>
            <a:endParaRPr lang="en-US" sz="600" dirty="0"/>
          </a:p>
        </p:txBody>
      </p:sp>
      <p:sp>
        <p:nvSpPr>
          <p:cNvPr id="15" name="Shape 12"/>
          <p:cNvSpPr/>
          <p:nvPr/>
        </p:nvSpPr>
        <p:spPr>
          <a:xfrm>
            <a:off x="6066182" y="3859510"/>
            <a:ext cx="5433678" cy="724892"/>
          </a:xfrm>
          <a:prstGeom prst="roundRect">
            <a:avLst>
              <a:gd name="adj" fmla="val 8903"/>
            </a:avLst>
          </a:prstGeom>
          <a:solidFill>
            <a:srgbClr val="FCF2B5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9769" y="4046934"/>
            <a:ext cx="191983" cy="15359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565339" y="4004370"/>
            <a:ext cx="4780934" cy="435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spc="-24" kern="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Restricted educational executor — NOT a production hostile-code sandbox.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98086" y="4850705"/>
            <a:ext cx="5338530" cy="1413669"/>
          </a:xfrm>
          <a:prstGeom prst="roundRect">
            <a:avLst>
              <a:gd name="adj" fmla="val 4565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58022" y="5010646"/>
            <a:ext cx="460959" cy="460970"/>
          </a:xfrm>
          <a:prstGeom prst="ellipse">
            <a:avLst/>
          </a:prstGeom>
          <a:solidFill>
            <a:srgbClr val="3371A5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4821" y="5137348"/>
            <a:ext cx="207362" cy="20736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58022" y="5589984"/>
            <a:ext cx="5018656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24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Deterministic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858022" y="5886847"/>
            <a:ext cx="5018656" cy="217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spc="-2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Mastery checks · unlock thresholds · stage progression · attempt verification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154980" y="4850705"/>
            <a:ext cx="5338629" cy="1413669"/>
          </a:xfrm>
          <a:prstGeom prst="roundRect">
            <a:avLst>
              <a:gd name="adj" fmla="val 4565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314917" y="5010646"/>
            <a:ext cx="460959" cy="460970"/>
          </a:xfrm>
          <a:prstGeom prst="ellipse">
            <a:avLst/>
          </a:prstGeom>
          <a:solidFill>
            <a:srgbClr val="3371A5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41715" y="5137348"/>
            <a:ext cx="207362" cy="207367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314917" y="5589984"/>
            <a:ext cx="5018756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24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AI-Assisted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6314917" y="5886847"/>
            <a:ext cx="5018756" cy="217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spc="-2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Story generation · remediation explanation · adaptive language and context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49771"/>
            <a:ext cx="10795524" cy="436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spc="-23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Private RAG &amp; Mentor Intelligence Pipeline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165" y="1275655"/>
            <a:ext cx="4908328" cy="4908451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40962" y="2178447"/>
            <a:ext cx="2274235" cy="150187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084538" y="2345829"/>
            <a:ext cx="1863282" cy="436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3" kern="0" dirty="0">
                <a:solidFill>
                  <a:srgbClr val="487C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Supabase / PostgreSQL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7084538" y="2892326"/>
            <a:ext cx="1863282" cy="620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b="1" spc="-23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Permanent source of truth.</a:t>
            </a:r>
            <a:pPr algn="l" indent="0" marL="0">
              <a:lnSpc>
                <a:spcPct val="116000"/>
              </a:lnSpc>
              <a:buNone/>
            </a:pPr>
            <a:r>
              <a:rPr lang="en-US" sz="1150" spc="-23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All notices, resources, and verified attempts live here.</a:t>
            </a:r>
            <a:endParaRPr lang="en-US" sz="11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25525" y="2178447"/>
            <a:ext cx="2274335" cy="150187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469101" y="2345829"/>
            <a:ext cx="1863381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3" kern="0" dirty="0">
                <a:solidFill>
                  <a:srgbClr val="77C9EB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FAISS Index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9469101" y="2674243"/>
            <a:ext cx="1863381" cy="827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b="1" spc="-23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Derived retrieval cache.</a:t>
            </a:r>
            <a:pPr algn="l" indent="0" marL="0">
              <a:lnSpc>
                <a:spcPct val="116000"/>
              </a:lnSpc>
              <a:buNone/>
            </a:pPr>
            <a:r>
              <a:rPr lang="en-US" sz="1150" spc="-23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Rebuilt from Supabase content; not an independent data store.</a:t>
            </a:r>
            <a:endParaRPr lang="en-US" sz="11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40962" y="3790652"/>
            <a:ext cx="2274235" cy="149066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084538" y="3958034"/>
            <a:ext cx="1863282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3" kern="0" dirty="0">
                <a:solidFill>
                  <a:srgbClr val="9FEED9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Lexical Fallback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7084538" y="4286448"/>
            <a:ext cx="1863282" cy="620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spc="-23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Keyword-based retrieval activates automatically if FastEmbed cannot initialise.</a:t>
            </a:r>
            <a:endParaRPr lang="en-US" sz="11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25525" y="3790652"/>
            <a:ext cx="2274335" cy="149066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469101" y="3958034"/>
            <a:ext cx="1863381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3" kern="0" dirty="0">
                <a:solidFill>
                  <a:srgbClr val="FAC496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Mentor PDF Report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9469101" y="4286448"/>
            <a:ext cx="1863381" cy="827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spc="-23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Evidence-driven analysis via Groq → ReportLab PDF → persisted. No invented scores.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33016"/>
            <a:ext cx="10795524" cy="44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2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Reliability, Docker &amp; Deployment Learning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698086" y="2033984"/>
            <a:ext cx="702848" cy="227211"/>
          </a:xfrm>
          <a:prstGeom prst="roundRect">
            <a:avLst>
              <a:gd name="adj" fmla="val 22124"/>
            </a:avLst>
          </a:prstGeom>
          <a:solidFill>
            <a:srgbClr val="D8E7F3"/>
          </a:solidFill>
          <a:ln/>
        </p:spPr>
      </p:sp>
      <p:sp>
        <p:nvSpPr>
          <p:cNvPr id="4" name="Text 2"/>
          <p:cNvSpPr/>
          <p:nvPr/>
        </p:nvSpPr>
        <p:spPr>
          <a:xfrm>
            <a:off x="787777" y="2078831"/>
            <a:ext cx="113305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spc="-2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CURRENT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6742" y="2438797"/>
            <a:ext cx="476664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4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Supabase persistence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146742" y="2770882"/>
            <a:ext cx="4766647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spc="-2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All verified attempt and progress data durably stored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46742" y="3256062"/>
            <a:ext cx="476664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4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Provider fallbacks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46742" y="3588147"/>
            <a:ext cx="4766647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spc="-2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Lexical retrieval fallback if embedding service unavailable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146742" y="4073327"/>
            <a:ext cx="476664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4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Bounded executor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6742" y="4405412"/>
            <a:ext cx="4766647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spc="-2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Timeout, output, and syntax limits on all student code runs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146742" y="4890591"/>
            <a:ext cx="476664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4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Docker config present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46742" y="5222677"/>
            <a:ext cx="4766647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spc="-2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Dockerfile + docker-compose.yml in repository for portable packaging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6907" y="1241326"/>
            <a:ext cx="5430801" cy="4983559"/>
          </a:xfrm>
          <a:prstGeom prst="roundRect">
            <a:avLst>
              <a:gd name="adj" fmla="val 2161"/>
            </a:avLst>
          </a:prstGeom>
          <a:solidFill>
            <a:srgbClr val="1F2A5D"/>
          </a:solidFill>
          <a:ln/>
        </p:spPr>
      </p:sp>
      <p:sp>
        <p:nvSpPr>
          <p:cNvPr id="14" name="Shape 12"/>
          <p:cNvSpPr/>
          <p:nvPr/>
        </p:nvSpPr>
        <p:spPr>
          <a:xfrm>
            <a:off x="6326426" y="1367532"/>
            <a:ext cx="606013" cy="227211"/>
          </a:xfrm>
          <a:prstGeom prst="roundRect">
            <a:avLst>
              <a:gd name="adj" fmla="val 22124"/>
            </a:avLst>
          </a:prstGeom>
          <a:noFill/>
          <a:ln w="6350">
            <a:solidFill>
              <a:srgbClr val="3371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6118" y="1412379"/>
            <a:ext cx="103621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spc="-24" kern="0" dirty="0">
                <a:solidFill>
                  <a:srgbClr val="3371A5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FUTURE</a:t>
            </a:r>
            <a:endParaRPr lang="en-US" sz="9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82483" y="1725613"/>
            <a:ext cx="224328" cy="22433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812487" y="1720949"/>
            <a:ext cx="200972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4" kern="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API / Service separation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812487" y="2053034"/>
            <a:ext cx="2009725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spc="-24" kern="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Decouple Streamlit UI from backend execution services</a:t>
            </a:r>
            <a:endParaRPr lang="en-US" sz="115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18461" y="1725613"/>
            <a:ext cx="224328" cy="22433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9448464" y="1720949"/>
            <a:ext cx="2009725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4" kern="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Job queue + isolated Docker workers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9448464" y="2273002"/>
            <a:ext cx="2009725" cy="628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spc="-24" kern="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Student code runs in isolated containers — hardened execution boundary</a:t>
            </a:r>
            <a:endParaRPr lang="en-US" sz="11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82483" y="3130352"/>
            <a:ext cx="224328" cy="22433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812487" y="3125688"/>
            <a:ext cx="464570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4" kern="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OS limits · RLS · Observability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6812487" y="3457773"/>
            <a:ext cx="4645703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spc="-24" kern="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Syscall restrictions, row-level security, structured logging and testing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326426" y="3830737"/>
            <a:ext cx="5131763" cy="19050"/>
          </a:xfrm>
          <a:prstGeom prst="roundRect">
            <a:avLst>
              <a:gd name="adj" fmla="val 49999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6" name="Text 21"/>
          <p:cNvSpPr/>
          <p:nvPr/>
        </p:nvSpPr>
        <p:spPr>
          <a:xfrm>
            <a:off x="6326426" y="4058146"/>
            <a:ext cx="337761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spc="-24" kern="0" dirty="0">
                <a:solidFill>
                  <a:srgbClr val="3371A5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INDEPENDENT DEPLOYMENT LEARNING · NEXT STEP</a:t>
            </a:r>
            <a:endParaRPr lang="en-US" sz="9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7859" y="4366716"/>
            <a:ext cx="3848797" cy="1731963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547638" y="4452123"/>
            <a:ext cx="673524" cy="9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spc="-14" kern="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Repo</a:t>
            </a:r>
            <a:endParaRPr lang="en-US" sz="600" dirty="0"/>
          </a:p>
        </p:txBody>
      </p:sp>
      <p:sp>
        <p:nvSpPr>
          <p:cNvPr id="29" name="Text 23"/>
          <p:cNvSpPr/>
          <p:nvPr/>
        </p:nvSpPr>
        <p:spPr>
          <a:xfrm>
            <a:off x="7547638" y="4579627"/>
            <a:ext cx="673524" cy="145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1000"/>
              </a:lnSpc>
              <a:buNone/>
            </a:pPr>
            <a:r>
              <a:rPr lang="en-US" sz="500" spc="-14" kern="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GitHub source code and Dockerfiles</a:t>
            </a:r>
            <a:endParaRPr lang="en-US" sz="500" dirty="0"/>
          </a:p>
        </p:txBody>
      </p:sp>
      <p:sp>
        <p:nvSpPr>
          <p:cNvPr id="30" name="Text 24"/>
          <p:cNvSpPr/>
          <p:nvPr/>
        </p:nvSpPr>
        <p:spPr>
          <a:xfrm>
            <a:off x="8213761" y="5751095"/>
            <a:ext cx="677225" cy="9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spc="-14" kern="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Deploy</a:t>
            </a:r>
            <a:endParaRPr lang="en-US" sz="600" dirty="0"/>
          </a:p>
        </p:txBody>
      </p:sp>
      <p:sp>
        <p:nvSpPr>
          <p:cNvPr id="31" name="Text 25"/>
          <p:cNvSpPr/>
          <p:nvPr/>
        </p:nvSpPr>
        <p:spPr>
          <a:xfrm>
            <a:off x="8213761" y="5878599"/>
            <a:ext cx="677225" cy="145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1000"/>
              </a:lnSpc>
              <a:buNone/>
            </a:pPr>
            <a:r>
              <a:rPr lang="en-US" sz="500" spc="-14" kern="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Streamlit Cloud publishes the app</a:t>
            </a:r>
            <a:endParaRPr lang="en-US" sz="500" dirty="0"/>
          </a:p>
        </p:txBody>
      </p:sp>
      <p:sp>
        <p:nvSpPr>
          <p:cNvPr id="32" name="Text 26"/>
          <p:cNvSpPr/>
          <p:nvPr/>
        </p:nvSpPr>
        <p:spPr>
          <a:xfrm>
            <a:off x="8872483" y="4439229"/>
            <a:ext cx="673523" cy="9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spc="-14" kern="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Domain</a:t>
            </a:r>
            <a:endParaRPr lang="en-US" sz="600" dirty="0"/>
          </a:p>
        </p:txBody>
      </p:sp>
      <p:sp>
        <p:nvSpPr>
          <p:cNvPr id="33" name="Text 27"/>
          <p:cNvSpPr/>
          <p:nvPr/>
        </p:nvSpPr>
        <p:spPr>
          <a:xfrm>
            <a:off x="8872483" y="4566732"/>
            <a:ext cx="673523" cy="145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1000"/>
              </a:lnSpc>
              <a:buNone/>
            </a:pPr>
            <a:r>
              <a:rPr lang="en-US" sz="500" spc="-14" kern="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Register via GitHub Student Pack</a:t>
            </a:r>
            <a:endParaRPr lang="en-US" sz="500" dirty="0"/>
          </a:p>
        </p:txBody>
      </p:sp>
      <p:sp>
        <p:nvSpPr>
          <p:cNvPr id="34" name="Text 28"/>
          <p:cNvSpPr/>
          <p:nvPr/>
        </p:nvSpPr>
        <p:spPr>
          <a:xfrm>
            <a:off x="9538605" y="5751095"/>
            <a:ext cx="673523" cy="9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spc="-14" kern="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DNS &amp; TLS</a:t>
            </a:r>
            <a:endParaRPr lang="en-US" sz="600" dirty="0"/>
          </a:p>
        </p:txBody>
      </p:sp>
      <p:sp>
        <p:nvSpPr>
          <p:cNvPr id="35" name="Text 29"/>
          <p:cNvSpPr/>
          <p:nvPr/>
        </p:nvSpPr>
        <p:spPr>
          <a:xfrm>
            <a:off x="9538605" y="5878599"/>
            <a:ext cx="673523" cy="145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1000"/>
              </a:lnSpc>
              <a:buNone/>
            </a:pPr>
            <a:r>
              <a:rPr lang="en-US" sz="500" spc="-14" kern="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Map domain, enable HTTPS for users</a:t>
            </a:r>
            <a:endParaRPr lang="en-US" sz="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14363"/>
            <a:ext cx="10795524" cy="369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spc="-20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This Week → Next Week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698086" y="1191220"/>
            <a:ext cx="638655" cy="190698"/>
          </a:xfrm>
          <a:prstGeom prst="roundRect">
            <a:avLst>
              <a:gd name="adj" fmla="val 22132"/>
            </a:avLst>
          </a:prstGeom>
          <a:solidFill>
            <a:srgbClr val="D8E7F3"/>
          </a:solidFill>
          <a:ln/>
        </p:spPr>
      </p:sp>
      <p:sp>
        <p:nvSpPr>
          <p:cNvPr id="4" name="Text 2"/>
          <p:cNvSpPr/>
          <p:nvPr/>
        </p:nvSpPr>
        <p:spPr>
          <a:xfrm>
            <a:off x="773391" y="1228824"/>
            <a:ext cx="1097630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spc="-20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THIS WEEK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98086" y="1470819"/>
            <a:ext cx="251216" cy="1569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spc="-20" kern="0" dirty="0">
                <a:solidFill>
                  <a:srgbClr val="2B3541"/>
                </a:solidFill>
                <a:latin typeface="Funnel Display Light" pitchFamily="34" charset="0"/>
                <a:ea typeface="Funnel Display Light" pitchFamily="34" charset="-122"/>
                <a:cs typeface="Funnel Display Light" pitchFamily="34" charset="-120"/>
              </a:rPr>
              <a:t>01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98086" y="1671538"/>
            <a:ext cx="5022526" cy="12700"/>
          </a:xfrm>
          <a:prstGeom prst="rect">
            <a:avLst/>
          </a:prstGeom>
          <a:solidFill>
            <a:srgbClr val="3371A5"/>
          </a:solidFill>
          <a:ln/>
        </p:spPr>
      </p:sp>
      <p:sp>
        <p:nvSpPr>
          <p:cNvPr id="7" name="Text 5"/>
          <p:cNvSpPr/>
          <p:nvPr/>
        </p:nvSpPr>
        <p:spPr>
          <a:xfrm>
            <a:off x="698086" y="1759744"/>
            <a:ext cx="5022526" cy="184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20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Architecture refinement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98086" y="2023467"/>
            <a:ext cx="5022526" cy="163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-20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Intern Nexus module separation and repository organisation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98086" y="2360414"/>
            <a:ext cx="251216" cy="1569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spc="-20" kern="0" dirty="0">
                <a:solidFill>
                  <a:srgbClr val="2B3541"/>
                </a:solidFill>
                <a:latin typeface="Funnel Display Light" pitchFamily="34" charset="0"/>
                <a:ea typeface="Funnel Display Light" pitchFamily="34" charset="-122"/>
                <a:cs typeface="Funnel Display Light" pitchFamily="34" charset="-120"/>
              </a:rPr>
              <a:t>02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98086" y="2561134"/>
            <a:ext cx="5022526" cy="12700"/>
          </a:xfrm>
          <a:prstGeom prst="rect">
            <a:avLst/>
          </a:prstGeom>
          <a:solidFill>
            <a:srgbClr val="3371A5"/>
          </a:solidFill>
          <a:ln/>
        </p:spPr>
      </p:sp>
      <p:sp>
        <p:nvSpPr>
          <p:cNvPr id="11" name="Text 9"/>
          <p:cNvSpPr/>
          <p:nvPr/>
        </p:nvSpPr>
        <p:spPr>
          <a:xfrm>
            <a:off x="698086" y="2649339"/>
            <a:ext cx="5022526" cy="184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20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PyQuest development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98086" y="2913063"/>
            <a:ext cx="5022526" cy="163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-20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Agent flow, restricted executor, curriculum mastery logic — </a:t>
            </a:r>
            <a:pPr algn="l" indent="0" marL="0">
              <a:lnSpc>
                <a:spcPct val="109000"/>
              </a:lnSpc>
              <a:buNone/>
            </a:pPr>
            <a:r>
              <a:rPr lang="en-US" sz="950" b="1" spc="-20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current primary focus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98086" y="3250009"/>
            <a:ext cx="251216" cy="1569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spc="-20" kern="0" dirty="0">
                <a:solidFill>
                  <a:srgbClr val="2B3541"/>
                </a:solidFill>
                <a:latin typeface="Funnel Display Light" pitchFamily="34" charset="0"/>
                <a:ea typeface="Funnel Display Light" pitchFamily="34" charset="-122"/>
                <a:cs typeface="Funnel Display Light" pitchFamily="34" charset="-120"/>
              </a:rPr>
              <a:t>03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98086" y="3450729"/>
            <a:ext cx="5022526" cy="12700"/>
          </a:xfrm>
          <a:prstGeom prst="rect">
            <a:avLst/>
          </a:prstGeom>
          <a:solidFill>
            <a:srgbClr val="3371A5"/>
          </a:solidFill>
          <a:ln/>
        </p:spPr>
      </p:sp>
      <p:sp>
        <p:nvSpPr>
          <p:cNvPr id="15" name="Text 13"/>
          <p:cNvSpPr/>
          <p:nvPr/>
        </p:nvSpPr>
        <p:spPr>
          <a:xfrm>
            <a:off x="698086" y="3538934"/>
            <a:ext cx="5022526" cy="184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20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RAG &amp; agent understanding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98086" y="3802658"/>
            <a:ext cx="5022526" cy="163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-20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Embedding pipeline, FAISS retrieval, LangChain/LangGraph concepts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98086" y="4139605"/>
            <a:ext cx="251216" cy="1569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spc="-20" kern="0" dirty="0">
                <a:solidFill>
                  <a:srgbClr val="2B3541"/>
                </a:solidFill>
                <a:latin typeface="Funnel Display Light" pitchFamily="34" charset="0"/>
                <a:ea typeface="Funnel Display Light" pitchFamily="34" charset="-122"/>
                <a:cs typeface="Funnel Display Light" pitchFamily="34" charset="-120"/>
              </a:rPr>
              <a:t>04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98086" y="4340324"/>
            <a:ext cx="5022526" cy="12700"/>
          </a:xfrm>
          <a:prstGeom prst="rect">
            <a:avLst/>
          </a:prstGeom>
          <a:solidFill>
            <a:srgbClr val="3371A5"/>
          </a:solidFill>
          <a:ln/>
        </p:spPr>
      </p:sp>
      <p:sp>
        <p:nvSpPr>
          <p:cNvPr id="19" name="Text 17"/>
          <p:cNvSpPr/>
          <p:nvPr/>
        </p:nvSpPr>
        <p:spPr>
          <a:xfrm>
            <a:off x="698086" y="4428530"/>
            <a:ext cx="5022526" cy="184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20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Docker &amp; deployment research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98086" y="4692253"/>
            <a:ext cx="5022526" cy="163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-20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DNS, TLS/HTTPS, containerisation — independent learning following mentor feedback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42955" y="1102320"/>
            <a:ext cx="5647291" cy="3936702"/>
          </a:xfrm>
          <a:prstGeom prst="roundRect">
            <a:avLst>
              <a:gd name="adj" fmla="val 2297"/>
            </a:avLst>
          </a:prstGeom>
          <a:solidFill>
            <a:srgbClr val="1F2A5D"/>
          </a:solidFill>
          <a:ln/>
        </p:spPr>
      </p:sp>
      <p:sp>
        <p:nvSpPr>
          <p:cNvPr id="22" name="Shape 20"/>
          <p:cNvSpPr/>
          <p:nvPr/>
        </p:nvSpPr>
        <p:spPr>
          <a:xfrm>
            <a:off x="6068563" y="1191220"/>
            <a:ext cx="939975" cy="190698"/>
          </a:xfrm>
          <a:prstGeom prst="roundRect">
            <a:avLst>
              <a:gd name="adj" fmla="val 22132"/>
            </a:avLst>
          </a:prstGeom>
          <a:noFill/>
          <a:ln w="6350">
            <a:solidFill>
              <a:srgbClr val="3371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43868" y="1228824"/>
            <a:ext cx="1398949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spc="-20" kern="0" dirty="0">
                <a:solidFill>
                  <a:srgbClr val="3371A5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NEXT WEEK GOAL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068563" y="1413470"/>
            <a:ext cx="5396075" cy="184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20" kern="0" dirty="0">
                <a:solidFill>
                  <a:srgbClr val="487C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Working LangGraph Project Demonstration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068563" y="1687016"/>
            <a:ext cx="5396075" cy="368697"/>
          </a:xfrm>
          <a:prstGeom prst="roundRect">
            <a:avLst>
              <a:gd name="adj" fmla="val 14309"/>
            </a:avLst>
          </a:prstGeom>
          <a:solidFill>
            <a:srgbClr val="1E4361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4171" y="1814513"/>
            <a:ext cx="156960" cy="125611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476739" y="1789509"/>
            <a:ext cx="5471876" cy="163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-20" kern="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Results will be demonstrated next week — not claimed as complete today.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068563" y="2175966"/>
            <a:ext cx="5396075" cy="12700"/>
          </a:xfrm>
          <a:prstGeom prst="roundRect">
            <a:avLst>
              <a:gd name="adj" fmla="val 49999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6256975" y="2380059"/>
            <a:ext cx="5817248" cy="163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i="1" spc="-20" kern="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"Understand </a:t>
            </a:r>
            <a:pPr algn="l" indent="0" marL="0">
              <a:lnSpc>
                <a:spcPct val="109000"/>
              </a:lnSpc>
              <a:buNone/>
            </a:pPr>
            <a:r>
              <a:rPr lang="en-US" sz="950" b="1" i="1" spc="-20" kern="0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why</a:t>
            </a:r>
            <a:pPr algn="l" indent="0" marL="0">
              <a:lnSpc>
                <a:spcPct val="109000"/>
              </a:lnSpc>
              <a:buNone/>
            </a:pPr>
            <a:r>
              <a:rPr lang="en-US" sz="950" i="1" spc="-20" kern="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each architectural decision is made — not only how to make the feature work."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6068563" y="2308920"/>
            <a:ext cx="12700" cy="305991"/>
          </a:xfrm>
          <a:prstGeom prst="roundRect">
            <a:avLst>
              <a:gd name="adj" fmla="val 49999"/>
            </a:avLst>
          </a:prstGeom>
          <a:solidFill>
            <a:srgbClr val="3371A5"/>
          </a:solidFill>
          <a:ln/>
        </p:spPr>
      </p:sp>
      <p:pic>
        <p:nvPicPr>
          <p:cNvPr id="31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8563" y="2703810"/>
            <a:ext cx="1699872" cy="345380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698086" y="5127923"/>
            <a:ext cx="5358175" cy="1115616"/>
          </a:xfrm>
          <a:prstGeom prst="roundRect">
            <a:avLst>
              <a:gd name="adj" fmla="val 4729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830043" y="5259884"/>
            <a:ext cx="376823" cy="376833"/>
          </a:xfrm>
          <a:prstGeom prst="ellipse">
            <a:avLst/>
          </a:prstGeom>
          <a:solidFill>
            <a:srgbClr val="3371A5"/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3625" y="5363468"/>
            <a:ext cx="169561" cy="169565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830043" y="5715794"/>
            <a:ext cx="5094259" cy="184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20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StateGraph · Nodes · Edges</a:t>
            </a:r>
            <a:endParaRPr lang="en-US" sz="1150" dirty="0"/>
          </a:p>
        </p:txBody>
      </p:sp>
      <p:sp>
        <p:nvSpPr>
          <p:cNvPr id="36" name="Text 31"/>
          <p:cNvSpPr/>
          <p:nvPr/>
        </p:nvSpPr>
        <p:spPr>
          <a:xfrm>
            <a:off x="830043" y="5947866"/>
            <a:ext cx="5094259" cy="163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-20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Defined graph topology with typed state schemas and reducers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6135336" y="5127923"/>
            <a:ext cx="5358274" cy="1115616"/>
          </a:xfrm>
          <a:prstGeom prst="roundRect">
            <a:avLst>
              <a:gd name="adj" fmla="val 4729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6267293" y="5259884"/>
            <a:ext cx="376823" cy="376833"/>
          </a:xfrm>
          <a:prstGeom prst="ellipse">
            <a:avLst/>
          </a:prstGeom>
          <a:solidFill>
            <a:srgbClr val="3371A5"/>
          </a:solidFill>
          <a:ln/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70875" y="5363468"/>
            <a:ext cx="169561" cy="169565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6267293" y="5715794"/>
            <a:ext cx="5094358" cy="184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20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Conditional Routing · Agent Loop</a:t>
            </a:r>
            <a:endParaRPr lang="en-US" sz="1150" dirty="0"/>
          </a:p>
        </p:txBody>
      </p:sp>
      <p:sp>
        <p:nvSpPr>
          <p:cNvPr id="41" name="Text 35"/>
          <p:cNvSpPr/>
          <p:nvPr/>
        </p:nvSpPr>
        <p:spPr>
          <a:xfrm>
            <a:off x="6267293" y="5947866"/>
            <a:ext cx="5094358" cy="163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-20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Live state transitions, tool calls, and observable routing decisions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2026-09-24T10:05:51Z</dcterms:created>
  <dcterms:modified xsi:type="dcterms:W3CDTF">2026-09-24T10:05:51Z</dcterms:modified>
</cp:coreProperties>
</file>